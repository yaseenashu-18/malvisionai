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2"/>
    <p:sldId id="298" r:id="rId3"/>
    <p:sldId id="258" r:id="rId4"/>
    <p:sldId id="259" r:id="rId5"/>
    <p:sldId id="260" r:id="rId6"/>
    <p:sldId id="266" r:id="rId7"/>
    <p:sldId id="291" r:id="rId8"/>
    <p:sldId id="271" r:id="rId9"/>
    <p:sldId id="267" r:id="rId10"/>
    <p:sldId id="273" r:id="rId11"/>
    <p:sldId id="292" r:id="rId12"/>
    <p:sldId id="293" r:id="rId13"/>
    <p:sldId id="294" r:id="rId14"/>
    <p:sldId id="296" r:id="rId15"/>
    <p:sldId id="295" r:id="rId16"/>
    <p:sldId id="297" r:id="rId17"/>
    <p:sldId id="263" r:id="rId18"/>
    <p:sldId id="290" r:id="rId19"/>
    <p:sldId id="28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38F405-7AB1-4151-AFA7-070C9C2B937E}">
          <p14:sldIdLst>
            <p14:sldId id="257"/>
            <p14:sldId id="298"/>
            <p14:sldId id="258"/>
            <p14:sldId id="259"/>
            <p14:sldId id="260"/>
            <p14:sldId id="266"/>
            <p14:sldId id="291"/>
            <p14:sldId id="271"/>
          </p14:sldIdLst>
        </p14:section>
        <p14:section name="Untitled Section" id="{5DCB4009-F189-4E72-A113-83D714D8FD7C}">
          <p14:sldIdLst>
            <p14:sldId id="267"/>
            <p14:sldId id="273"/>
            <p14:sldId id="292"/>
            <p14:sldId id="293"/>
            <p14:sldId id="294"/>
            <p14:sldId id="296"/>
            <p14:sldId id="295"/>
            <p14:sldId id="297"/>
            <p14:sldId id="263"/>
            <p14:sldId id="290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0"/>
  </p:normalViewPr>
  <p:slideViewPr>
    <p:cSldViewPr snapToGrid="0">
      <p:cViewPr varScale="1">
        <p:scale>
          <a:sx n="78" d="100"/>
          <a:sy n="78" d="100"/>
        </p:scale>
        <p:origin x="38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68919-85BB-4F40-8C7E-B127A30149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47150-9264-405D-A247-FE608EEF41E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47150-9264-405D-A247-FE608EEF41E5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459CA-5819-45D1-8D5D-B8E0C1DA346B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BC37723-D2B4-42D3-9DB6-F0CAE7E78AE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2658" y="272999"/>
            <a:ext cx="9851922" cy="2775001"/>
          </a:xfrm>
        </p:spPr>
        <p:txBody>
          <a:bodyPr>
            <a:normAutofit fontScale="90000"/>
          </a:bodyPr>
          <a:lstStyle/>
          <a:p>
            <a:r>
              <a:rPr kumimoji="0" lang="en-IN" sz="27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   MALLA REDDY COLLEGE OF ENGINEERING FOR WOMEN</a:t>
            </a:r>
            <a:r>
              <a:rPr kumimoji="0" lang="en-IN" sz="27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 </a:t>
            </a:r>
            <a:r>
              <a:rPr kumimoji="0" lang="en-IN" sz="2700" u="none" strike="noStrike" cap="none" spc="0" normalizeH="0" baseline="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Bookman Old Style" panose="02050604050505020204" pitchFamily="18" charset="0"/>
              </a:rPr>
              <a:t> </a:t>
            </a:r>
            <a:br>
              <a:rPr kumimoji="0" lang="en-IN" sz="2700" u="none" strike="noStrike" cap="none" spc="0" normalizeH="0" baseline="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Bookman Old Style" panose="02050604050505020204" pitchFamily="18" charset="0"/>
              </a:rPr>
            </a:br>
            <a:r>
              <a:rPr kumimoji="0" lang="en-IN" sz="2700" u="none" strike="noStrike" cap="none" spc="0" normalizeH="0" baseline="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Bookman Old Style" panose="02050604050505020204" pitchFamily="18" charset="0"/>
              </a:rPr>
              <a:t>                           </a:t>
            </a:r>
            <a:r>
              <a:rPr kumimoji="0" lang="en-IN" sz="2000" b="1" u="none" strike="noStrike" cap="none" spc="0" normalizeH="0" baseline="0" dirty="0">
                <a:solidFill>
                  <a:srgbClr val="FF0000"/>
                </a:solidFill>
                <a:latin typeface="Bell MT" panose="02020503060305020303" pitchFamily="18" charset="0"/>
              </a:rPr>
              <a:t>An UGC Autonomous Institution</a:t>
            </a:r>
            <a:br>
              <a:rPr kumimoji="0" lang="en-IN" sz="2800" b="1" u="none" strike="noStrike" cap="none" spc="0" normalizeH="0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</a:br>
            <a:r>
              <a:rPr kumimoji="0" lang="en-IN" sz="2800" b="1" u="none" strike="noStrike" cap="none" spc="0" normalizeH="0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             </a:t>
            </a:r>
            <a:r>
              <a:rPr kumimoji="0" lang="en-IN" sz="2000" b="1" i="1" u="none" strike="noStrike" cap="none" spc="0" normalizeH="0" baseline="0" dirty="0">
                <a:solidFill>
                  <a:schemeClr val="tx1"/>
                </a:solidFill>
                <a:latin typeface="Bookman Old Style" panose="02050604050505020204" pitchFamily="18" charset="0"/>
              </a:rPr>
              <a:t>Approved by AICTE New Delhi and Affiliated to JNTU</a:t>
            </a:r>
            <a:br>
              <a:rPr kumimoji="0" lang="en-IN" sz="2400" b="1" i="1" u="none" strike="noStrike" cap="none" spc="0" normalizeH="0" baseline="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kumimoji="0" lang="en-IN" sz="2400" b="1" i="1" u="none" strike="noStrike" cap="none" spc="0" normalizeH="0" baseline="0" dirty="0">
                <a:solidFill>
                  <a:schemeClr val="tx1"/>
                </a:solidFill>
                <a:latin typeface="Bookman Old Style" panose="02050604050505020204" pitchFamily="18" charset="0"/>
              </a:rPr>
              <a:t>                   </a:t>
            </a:r>
            <a:r>
              <a:rPr kumimoji="0" lang="en-IN" sz="2000" b="1" i="1" u="none" strike="noStrike" cap="none" spc="0" normalizeH="0" baseline="0" dirty="0">
                <a:solidFill>
                  <a:srgbClr val="92D050"/>
                </a:solidFill>
                <a:latin typeface="Bookman Old Style" panose="02050604050505020204" pitchFamily="18" charset="0"/>
              </a:rPr>
              <a:t>An</a:t>
            </a:r>
            <a:r>
              <a:rPr kumimoji="0" lang="en-IN" sz="2000" b="1" i="1" u="none" strike="noStrike" cap="none" spc="0" normalizeH="0" baseline="0" dirty="0">
                <a:solidFill>
                  <a:schemeClr val="tx1"/>
                </a:solidFill>
                <a:latin typeface="Bookman Old Style" panose="02050604050505020204" pitchFamily="18" charset="0"/>
              </a:rPr>
              <a:t> ISO 9001: 2015 Certified Institution</a:t>
            </a:r>
            <a:br>
              <a:rPr kumimoji="0" lang="en-IN" sz="2000" b="1" i="1" u="none" strike="noStrike" cap="none" spc="0" normalizeH="0" baseline="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kumimoji="0" lang="en-IN" sz="2000" b="1" i="1" u="none" strike="noStrike" cap="none" spc="0" normalizeH="0" baseline="0" dirty="0">
                <a:solidFill>
                  <a:schemeClr val="tx1"/>
                </a:solidFill>
                <a:latin typeface="Bookman Old Style" panose="02050604050505020204" pitchFamily="18" charset="0"/>
              </a:rPr>
              <a:t>                    </a:t>
            </a:r>
            <a:r>
              <a:rPr kumimoji="0" lang="en-IN" sz="2000" b="1" i="1" u="none" strike="noStrike" cap="none" spc="0" normalizeH="0" baseline="0" dirty="0">
                <a:solidFill>
                  <a:srgbClr val="0070C0"/>
                </a:solidFill>
                <a:latin typeface="Bookman Old Style" panose="02050604050505020204" pitchFamily="18" charset="0"/>
              </a:rPr>
              <a:t>Accredited by NBA and IIC 4-star Rating  </a:t>
            </a:r>
            <a:br>
              <a:rPr kumimoji="0" lang="en-IN" sz="2000" b="1" i="1" u="none" strike="noStrike" cap="none" spc="0" normalizeH="0" baseline="0" dirty="0">
                <a:solidFill>
                  <a:srgbClr val="0070C0"/>
                </a:solidFill>
                <a:latin typeface="Bookman Old Style" panose="02050604050505020204" pitchFamily="18" charset="0"/>
              </a:rPr>
            </a:br>
            <a:r>
              <a:rPr kumimoji="0" lang="en-IN" sz="2000" b="1" i="1" u="none" strike="noStrike" cap="none" spc="0" normalizeH="0" baseline="0" dirty="0">
                <a:solidFill>
                  <a:schemeClr val="tx1"/>
                </a:solidFill>
                <a:latin typeface="Bookman Old Style" panose="02050604050505020204" pitchFamily="18" charset="0"/>
              </a:rPr>
              <a:t>    </a:t>
            </a:r>
            <a:r>
              <a:rPr kumimoji="0" lang="en-IN" sz="2000" b="1" i="1" u="none" strike="noStrike" cap="none" spc="0" normalizeH="0" baseline="0" dirty="0">
                <a:solidFill>
                  <a:srgbClr val="00B050"/>
                </a:solidFill>
                <a:latin typeface="Bookman Old Style" panose="02050604050505020204" pitchFamily="18" charset="0"/>
              </a:rPr>
              <a:t>         India Rankings 2023-NIRF Innovation  Band 151-300</a:t>
            </a:r>
            <a:br>
              <a:rPr kumimoji="0" lang="en-IN" sz="2000" b="1" i="1" u="none" strike="noStrike" cap="none" spc="0" normalizeH="0" baseline="0" dirty="0">
                <a:solidFill>
                  <a:srgbClr val="00B050"/>
                </a:solidFill>
                <a:latin typeface="Bookman Old Style" panose="02050604050505020204" pitchFamily="18" charset="0"/>
              </a:rPr>
            </a:br>
            <a:r>
              <a:rPr kumimoji="0" lang="en-IN" sz="2000" b="1" i="1" u="none" strike="noStrike" cap="none" spc="0" normalizeH="0" baseline="0" dirty="0">
                <a:solidFill>
                  <a:srgbClr val="00B050"/>
                </a:solidFill>
                <a:latin typeface="Bookman Old Style" panose="02050604050505020204" pitchFamily="18" charset="0"/>
              </a:rPr>
              <a:t>        </a:t>
            </a:r>
            <a:r>
              <a:rPr kumimoji="0" lang="en-IN" sz="2000" b="1" i="1" u="none" strike="noStrike" cap="none" spc="0" normalizeH="0" baseline="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Maisammaguda</a:t>
            </a:r>
            <a:r>
              <a:rPr kumimoji="0" lang="en-IN" sz="2000" b="1" i="1" u="none" strike="noStrike" cap="none" spc="0" normalizeH="0" baseline="0" dirty="0">
                <a:solidFill>
                  <a:schemeClr val="tx1"/>
                </a:solidFill>
                <a:latin typeface="Bookman Old Style" panose="02050604050505020204" pitchFamily="18" charset="0"/>
              </a:rPr>
              <a:t> , </a:t>
            </a:r>
            <a:r>
              <a:rPr kumimoji="0" lang="en-IN" sz="2000" b="1" i="1" u="none" strike="noStrike" cap="none" spc="0" normalizeH="0" baseline="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Medchal</a:t>
            </a:r>
            <a:r>
              <a:rPr kumimoji="0" lang="en-IN" sz="2000" b="1" i="1" u="none" strike="noStrike" cap="none" spc="0" normalizeH="0" baseline="0" dirty="0">
                <a:solidFill>
                  <a:schemeClr val="tx1"/>
                </a:solidFill>
                <a:latin typeface="Bookman Old Style" panose="02050604050505020204" pitchFamily="18" charset="0"/>
              </a:rPr>
              <a:t>(</a:t>
            </a:r>
            <a:r>
              <a:rPr kumimoji="0" lang="en-IN" sz="2000" b="1" i="1" u="none" strike="noStrike" cap="none" spc="0" normalizeH="0" baseline="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Dist</a:t>
            </a:r>
            <a:r>
              <a:rPr kumimoji="0" lang="en-IN" sz="2000" b="1" i="1" u="none" strike="noStrike" cap="none" spc="0" normalizeH="0" baseline="0" dirty="0">
                <a:solidFill>
                  <a:schemeClr val="tx1"/>
                </a:solidFill>
                <a:latin typeface="Bookman Old Style" panose="02050604050505020204" pitchFamily="18" charset="0"/>
              </a:rPr>
              <a:t>) , Hyderabad -500100, Telangana.</a:t>
            </a:r>
            <a:br>
              <a:rPr lang="en-IN" sz="2000" b="1" i="1" dirty="0">
                <a:latin typeface="Bookman Old Style" panose="02050604050505020204" pitchFamily="18" charset="0"/>
              </a:rPr>
            </a:br>
            <a:r>
              <a:rPr lang="en-IN" sz="2000" b="1" i="1" dirty="0">
                <a:latin typeface="Bookman Old Style" panose="02050604050505020204" pitchFamily="18" charset="0"/>
              </a:rPr>
              <a:t>   </a:t>
            </a:r>
            <a:r>
              <a:rPr kumimoji="0" lang="en-IN" sz="2000" b="1" i="1" u="none" strike="noStrike" cap="none" spc="0" normalizeH="0" baseline="0" dirty="0">
                <a:solidFill>
                  <a:schemeClr val="tx1"/>
                </a:solidFill>
                <a:latin typeface="Bookman Old Style" panose="02050604050505020204" pitchFamily="18" charset="0"/>
              </a:rPr>
              <a:t>Tel:  9346118802     Email : rg.mrcew@gmail.com,    www.mrcew.ac.in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2089" y="3293806"/>
            <a:ext cx="10533266" cy="30011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0" lang="en-US" alt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DEPARTMENT OF </a:t>
            </a:r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COMPUTER SCIENCE AND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+mn-cs"/>
              </a:rPr>
              <a:t> ENGINEERING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Bookman Old Style" panose="02050604050505020204" pitchFamily="18" charset="0"/>
              </a:rPr>
              <a:t>A Travel Direction Recommendation Model Based On Photos Of User Social Network Profile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PRESENTED BY:                                               UNDER GUIDANCE OF: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B.SRIYAMINI     21RG1A0573                 		    K.PRASANTH KUMAR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G.ANJALI     </a:t>
            </a:r>
            <a:r>
              <a:rPr lang="en-IN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     21RG1A0584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MD.AISHA         21RG1A0599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K.SRIKANYA</a:t>
            </a:r>
            <a:r>
              <a:rPr lang="en-IN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     21RG1A05C2</a:t>
            </a:r>
          </a:p>
          <a:p>
            <a:pPr marL="0" indent="0">
              <a:buNone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Bookman Old Style" panose="02050604050505020204" pitchFamily="18" charset="0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72" y="272999"/>
            <a:ext cx="1120417" cy="10618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B524F-58A4-D19F-2B49-644C7249A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135" y="471948"/>
            <a:ext cx="9695477" cy="973394"/>
          </a:xfrm>
        </p:spPr>
        <p:txBody>
          <a:bodyPr>
            <a:noAutofit/>
          </a:bodyPr>
          <a:lstStyle/>
          <a:p>
            <a:r>
              <a:rPr lang="en-IN" sz="5400" dirty="0">
                <a:solidFill>
                  <a:srgbClr val="002060"/>
                </a:solidFill>
                <a:latin typeface="Bell MT" panose="02020503060305020303" pitchFamily="18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3C7A4-A7A0-2B3B-6B45-6E5B94FFF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135" y="1514169"/>
            <a:ext cx="9695477" cy="5171766"/>
          </a:xfrm>
        </p:spPr>
        <p:txBody>
          <a:bodyPr/>
          <a:lstStyle/>
          <a:p>
            <a:r>
              <a:rPr lang="en-IN" sz="2000" dirty="0">
                <a:solidFill>
                  <a:srgbClr val="002060"/>
                </a:solidFill>
                <a:latin typeface="Bell MT" panose="02020503060305020303" pitchFamily="18" charset="0"/>
              </a:rPr>
              <a:t>ABSTARCT</a:t>
            </a:r>
          </a:p>
          <a:p>
            <a:r>
              <a:rPr lang="en-IN" sz="2000" dirty="0">
                <a:solidFill>
                  <a:srgbClr val="002060"/>
                </a:solidFill>
                <a:latin typeface="Bell MT" panose="02020503060305020303" pitchFamily="18" charset="0"/>
              </a:rPr>
              <a:t>INTRODUCTION</a:t>
            </a:r>
          </a:p>
          <a:p>
            <a:r>
              <a:rPr lang="en-IN" sz="2000" dirty="0">
                <a:solidFill>
                  <a:srgbClr val="002060"/>
                </a:solidFill>
                <a:latin typeface="Bell MT" panose="02020503060305020303" pitchFamily="18" charset="0"/>
              </a:rPr>
              <a:t>EXISTING SYSTEM</a:t>
            </a:r>
          </a:p>
          <a:p>
            <a:r>
              <a:rPr lang="en-IN" sz="2000" dirty="0">
                <a:solidFill>
                  <a:srgbClr val="002060"/>
                </a:solidFill>
                <a:latin typeface="Bell MT" panose="02020503060305020303" pitchFamily="18" charset="0"/>
              </a:rPr>
              <a:t>PROPOSED METHOD</a:t>
            </a:r>
          </a:p>
          <a:p>
            <a:r>
              <a:rPr lang="en-IN" sz="2000" spc="5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S</a:t>
            </a:r>
            <a:r>
              <a:rPr lang="en-IN" sz="2000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YS</a:t>
            </a:r>
            <a:r>
              <a:rPr lang="en-IN" sz="2000" spc="5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T</a:t>
            </a:r>
            <a:r>
              <a:rPr lang="en-IN" sz="2000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EM</a:t>
            </a:r>
            <a:r>
              <a:rPr lang="en-IN" sz="2000" spc="-5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 </a:t>
            </a:r>
            <a:r>
              <a:rPr lang="en-IN" sz="2000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REQUI</a:t>
            </a:r>
            <a:r>
              <a:rPr lang="en-IN" sz="2000" spc="-5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R</a:t>
            </a:r>
            <a:r>
              <a:rPr lang="en-IN" sz="2000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E</a:t>
            </a:r>
            <a:r>
              <a:rPr lang="en-IN" sz="2000" spc="-15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M</a:t>
            </a:r>
            <a:r>
              <a:rPr lang="en-IN" sz="2000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ENTS</a:t>
            </a:r>
          </a:p>
          <a:p>
            <a:r>
              <a:rPr lang="en-IN" sz="2000" dirty="0">
                <a:solidFill>
                  <a:srgbClr val="002060"/>
                </a:solidFill>
                <a:latin typeface="Bell MT" panose="02020503060305020303" pitchFamily="18" charset="0"/>
              </a:rPr>
              <a:t>ARCHITECTURE DIAGRAM</a:t>
            </a:r>
          </a:p>
          <a:p>
            <a:r>
              <a:rPr lang="en-IN" sz="2000" dirty="0">
                <a:solidFill>
                  <a:srgbClr val="002060"/>
                </a:solidFill>
                <a:latin typeface="Bell MT" panose="02020503060305020303" pitchFamily="18" charset="0"/>
              </a:rPr>
              <a:t>ADVANTAGES</a:t>
            </a:r>
          </a:p>
          <a:p>
            <a:r>
              <a:rPr lang="en-IN" sz="2000" dirty="0">
                <a:solidFill>
                  <a:srgbClr val="002060"/>
                </a:solidFill>
                <a:latin typeface="Bell MT" panose="02020503060305020303" pitchFamily="18" charset="0"/>
              </a:rPr>
              <a:t>APPLICATIONS</a:t>
            </a:r>
          </a:p>
          <a:p>
            <a:r>
              <a:rPr lang="en-IN" sz="2000" dirty="0">
                <a:solidFill>
                  <a:srgbClr val="002060"/>
                </a:solidFill>
                <a:latin typeface="Bell MT" panose="02020503060305020303" pitchFamily="18" charset="0"/>
              </a:rPr>
              <a:t>RESULT ANALYSIS</a:t>
            </a:r>
          </a:p>
          <a:p>
            <a:r>
              <a:rPr lang="en-IN" sz="2000" dirty="0">
                <a:solidFill>
                  <a:srgbClr val="002060"/>
                </a:solidFill>
                <a:latin typeface="Bell MT" panose="02020503060305020303" pitchFamily="18" charset="0"/>
              </a:rPr>
              <a:t>FUTURE SCOPE</a:t>
            </a:r>
          </a:p>
          <a:p>
            <a:r>
              <a:rPr lang="en-US" sz="2000" dirty="0">
                <a:solidFill>
                  <a:srgbClr val="002060"/>
                </a:solidFill>
                <a:latin typeface="Bell MT" panose="02020503060305020303" pitchFamily="18" charset="0"/>
                <a:ea typeface="Optima" pitchFamily="34" charset="-122"/>
                <a:cs typeface="Optima" pitchFamily="34" charset="-120"/>
              </a:rPr>
              <a:t>CONCLUSION</a:t>
            </a:r>
            <a:endParaRPr lang="en-IN" sz="2000" dirty="0">
              <a:solidFill>
                <a:srgbClr val="002060"/>
              </a:solidFill>
              <a:latin typeface="Bell MT" panose="02020503060305020303" pitchFamily="18" charset="0"/>
              <a:ea typeface="Optima" pitchFamily="34" charset="-122"/>
              <a:cs typeface="Optima" pitchFamily="34" charset="-120"/>
            </a:endParaRPr>
          </a:p>
          <a:p>
            <a:r>
              <a:rPr lang="en-IN" sz="2000" dirty="0">
                <a:solidFill>
                  <a:srgbClr val="002060"/>
                </a:solidFill>
                <a:latin typeface="Bell MT" panose="02020503060305020303" pitchFamily="18" charset="0"/>
              </a:rPr>
              <a:t>REFERENCES</a:t>
            </a:r>
          </a:p>
          <a:p>
            <a:endParaRPr lang="en-IN" sz="1800" dirty="0">
              <a:solidFill>
                <a:srgbClr val="002060"/>
              </a:solidFill>
              <a:latin typeface="Bell MT" panose="02020503060305020303" pitchFamily="18" charset="0"/>
            </a:endParaRPr>
          </a:p>
          <a:p>
            <a:endParaRPr lang="en-IN" dirty="0">
              <a:solidFill>
                <a:srgbClr val="002060"/>
              </a:solidFill>
              <a:effectLst/>
              <a:latin typeface="Bell MT" panose="02020503060305020303" pitchFamily="18" charset="0"/>
            </a:endParaRPr>
          </a:p>
          <a:p>
            <a:endParaRPr lang="en-IN" dirty="0">
              <a:solidFill>
                <a:srgbClr val="002060"/>
              </a:solidFill>
              <a:latin typeface="Bell MT" panose="02020503060305020303" pitchFamily="18" charset="0"/>
            </a:endParaRPr>
          </a:p>
          <a:p>
            <a:endParaRPr lang="en-IN" sz="1800" dirty="0">
              <a:solidFill>
                <a:srgbClr val="002060"/>
              </a:solidFill>
              <a:latin typeface="Bell MT" panose="02020503060305020303" pitchFamily="18" charset="0"/>
            </a:endParaRPr>
          </a:p>
          <a:p>
            <a:endParaRPr lang="en-IN" sz="1800" dirty="0">
              <a:solidFill>
                <a:srgbClr val="00206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10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19432"/>
            <a:ext cx="9636483" cy="855406"/>
          </a:xfrm>
        </p:spPr>
        <p:txBody>
          <a:bodyPr>
            <a:noAutofit/>
          </a:bodyPr>
          <a:lstStyle/>
          <a:p>
            <a:r>
              <a:rPr lang="en-IN" sz="5400" dirty="0">
                <a:solidFill>
                  <a:srgbClr val="002060"/>
                </a:solidFill>
                <a:latin typeface="Bell MT" panose="02020503060305020303" pitchFamily="18" charset="0"/>
              </a:rPr>
              <a:t>ABSTARCT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534" y="1474838"/>
            <a:ext cx="10392697" cy="483747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 Main goal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The model suggests travel destinations by looking at people's Instagram photos and the info that comes with them.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 How it works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It uses four main tools—finding objects in photos, comparing similarities, sorting things into groups, and grouping similar photos together.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 </a:t>
            </a: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What’s special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It mixes results from different methods to give better travel suggestions.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Good results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It correctly matched 63% of the places people actually visited, and 96% when including other places not shown in their photos.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 </a:t>
            </a: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Smart and automatic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The system runs on its own and keeps getting better as it learns from new photos and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4620" y="501444"/>
            <a:ext cx="8911687" cy="1039999"/>
          </a:xfrm>
        </p:spPr>
        <p:txBody>
          <a:bodyPr>
            <a:normAutofit/>
          </a:bodyPr>
          <a:lstStyle/>
          <a:p>
            <a:r>
              <a:rPr lang="en-IN" sz="5400" dirty="0">
                <a:solidFill>
                  <a:srgbClr val="002060"/>
                </a:solidFill>
                <a:latin typeface="Bell MT" panose="02020503060305020303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239" y="1769806"/>
            <a:ext cx="11326761" cy="482764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Photo-based recommendations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Instead of relying only on user data or metadata, this model analyzes Instagram photos to recommend travel destinations based on detected objects and activities.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AI-drive Post-pandemic travel boom: 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After COVID restrictions were lifted, people resumed traveling more, making the travel industry both lucrative and highly competitive.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n model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The proposed recommendation system uses artificial intelligence (AI), combining supervised and unsupervised methods (like similarity measures and self-organizing maps) to suggest travel destinations.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Unique approach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The system goes beyond traditional methods by using visual data and modifying self-organizing maps to work better with high-dimensional photo features, offering more accurate and personalized travel suggestions.</a:t>
            </a:r>
            <a:endParaRPr lang="en-IN" sz="24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0861" y="521110"/>
            <a:ext cx="9508664" cy="1032386"/>
          </a:xfrm>
        </p:spPr>
        <p:txBody>
          <a:bodyPr>
            <a:normAutofit/>
          </a:bodyPr>
          <a:lstStyle/>
          <a:p>
            <a:r>
              <a:rPr lang="en-IN" sz="5400" dirty="0">
                <a:solidFill>
                  <a:srgbClr val="002060"/>
                </a:solidFill>
                <a:latin typeface="Bell MT" panose="02020503060305020303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723" y="1818968"/>
            <a:ext cx="11154970" cy="464082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Photo-based recommendations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Unlike many systems that rely on detecting locations or users in photos, this model focuses on identifying common objects (like food or animals) in users’ photos to understand their interests.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Data challenges: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 There’s no existing public dataset suitable for training such a model, so creating and preparing custom datasets is essential and complex.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Object detection complexity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Detecting too many or overly specific objects (e.g., identifying a specific dish instead of just "food") can reduce accuracy, so a balance between detail and simplicity is necessary.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Similarity and classification methods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The model uses both traditional and newer similarity measures along with various classification (SVM, decision trees, deep learning) and clustering (K-means, hierarchical, KNN) techniques.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540774"/>
            <a:ext cx="9506479" cy="825910"/>
          </a:xfrm>
        </p:spPr>
        <p:txBody>
          <a:bodyPr>
            <a:noAutofit/>
          </a:bodyPr>
          <a:lstStyle/>
          <a:p>
            <a:r>
              <a:rPr lang="en-IN" sz="5400" dirty="0">
                <a:solidFill>
                  <a:srgbClr val="002060"/>
                </a:solidFill>
                <a:latin typeface="Bell MT" panose="02020503060305020303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633" y="1750142"/>
            <a:ext cx="11257936" cy="4886632"/>
          </a:xfrm>
        </p:spPr>
        <p:txBody>
          <a:bodyPr>
            <a:noAutofit/>
          </a:bodyPr>
          <a:lstStyle/>
          <a:p>
            <a:pPr lvl="2" indent="-342900">
              <a:buFont typeface="Wingdings" panose="05000000000000000000" pitchFamily="2" charset="2"/>
              <a:buChar char="Ø"/>
            </a:pPr>
            <a:r>
              <a:rPr lang="en-IN" sz="2400" u="sng" dirty="0">
                <a:latin typeface="Aptos Display" panose="020B0004020202020204" pitchFamily="34" charset="0"/>
              </a:rPr>
              <a:t>Social network API integration</a:t>
            </a:r>
            <a:r>
              <a:rPr lang="en-IN" sz="2400" dirty="0">
                <a:latin typeface="Aptos Display" panose="020B0004020202020204" pitchFamily="34" charset="0"/>
              </a:rPr>
              <a:t>: Integrate with social network APIs (e.g., Facebook, Instagram) to collect user-uploaded photos.</a:t>
            </a:r>
          </a:p>
          <a:p>
            <a:pPr lvl="2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ptos Display" panose="020B0004020202020204" pitchFamily="34" charset="0"/>
              </a:rPr>
              <a:t> </a:t>
            </a:r>
            <a:r>
              <a:rPr lang="en-IN" sz="2400" u="sng" dirty="0">
                <a:latin typeface="Aptos Display" panose="020B0004020202020204" pitchFamily="34" charset="0"/>
              </a:rPr>
              <a:t>Photo metadata extraction</a:t>
            </a:r>
            <a:r>
              <a:rPr lang="en-IN" sz="2400" dirty="0">
                <a:latin typeface="Aptos Display" panose="020B0004020202020204" pitchFamily="34" charset="0"/>
              </a:rPr>
              <a:t>: Extract metadata from photos, such as location, timestamp, and user interactions (e.g., likes, comments).</a:t>
            </a:r>
          </a:p>
          <a:p>
            <a:pPr lvl="2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ptos Display" panose="020B0004020202020204" pitchFamily="34" charset="0"/>
              </a:rPr>
              <a:t> </a:t>
            </a:r>
            <a:r>
              <a:rPr lang="en-IN" sz="2400" u="sng" dirty="0">
                <a:latin typeface="Aptos Display" panose="020B0004020202020204" pitchFamily="34" charset="0"/>
              </a:rPr>
              <a:t>Object detection</a:t>
            </a:r>
            <a:r>
              <a:rPr lang="en-IN" sz="2400" dirty="0">
                <a:latin typeface="Aptos Display" panose="020B0004020202020204" pitchFamily="34" charset="0"/>
              </a:rPr>
              <a:t>: Use computer vision techniques (e.g., YOLO, SSD) to detect objects, scenes, and activities in photos.</a:t>
            </a:r>
          </a:p>
          <a:p>
            <a:pPr lvl="2" indent="-342900">
              <a:buFont typeface="Wingdings" panose="05000000000000000000" pitchFamily="2" charset="2"/>
              <a:buChar char="Ø"/>
            </a:pPr>
            <a:r>
              <a:rPr lang="en-IN" sz="2400" u="sng" dirty="0">
                <a:latin typeface="Aptos Display" panose="020B0004020202020204" pitchFamily="34" charset="0"/>
              </a:rPr>
              <a:t> Image classification</a:t>
            </a:r>
            <a:r>
              <a:rPr lang="en-IN" sz="2400" dirty="0">
                <a:latin typeface="Aptos Display" panose="020B0004020202020204" pitchFamily="34" charset="0"/>
              </a:rPr>
              <a:t>: Classify photos into categories (e.g., landmarks, nature, food, culture).</a:t>
            </a:r>
          </a:p>
          <a:p>
            <a:pPr lvl="2" indent="-342900">
              <a:buFont typeface="Wingdings" panose="05000000000000000000" pitchFamily="2" charset="2"/>
              <a:buChar char="Ø"/>
            </a:pPr>
            <a:r>
              <a:rPr lang="en-IN" sz="2400" u="sng" dirty="0">
                <a:latin typeface="Aptos Display" panose="020B0004020202020204" pitchFamily="34" charset="0"/>
              </a:rPr>
              <a:t>Sentiment analysis</a:t>
            </a:r>
            <a:r>
              <a:rPr lang="en-IN" sz="2400" dirty="0">
                <a:latin typeface="Aptos Display" panose="020B0004020202020204" pitchFamily="34" charset="0"/>
              </a:rPr>
              <a:t>: </a:t>
            </a:r>
            <a:r>
              <a:rPr lang="en-IN" sz="2400" dirty="0" err="1">
                <a:latin typeface="Aptos Display" panose="020B0004020202020204" pitchFamily="34" charset="0"/>
              </a:rPr>
              <a:t>Analyze</a:t>
            </a:r>
            <a:r>
              <a:rPr lang="en-IN" sz="2400" dirty="0">
                <a:latin typeface="Aptos Display" panose="020B0004020202020204" pitchFamily="34" charset="0"/>
              </a:rPr>
              <a:t> user sentiment and emotions expressed in photos.</a:t>
            </a:r>
          </a:p>
          <a:p>
            <a:pPr lvl="2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ptos Display" panose="020B0004020202020204" pitchFamily="34" charset="0"/>
              </a:rPr>
              <a:t> </a:t>
            </a:r>
            <a:r>
              <a:rPr lang="en-IN" sz="2400" u="sng" dirty="0">
                <a:latin typeface="Aptos Display" panose="020B0004020202020204" pitchFamily="34" charset="0"/>
              </a:rPr>
              <a:t>Travel history analysis</a:t>
            </a:r>
            <a:r>
              <a:rPr lang="en-IN" sz="2400" dirty="0">
                <a:latin typeface="Aptos Display" panose="020B0004020202020204" pitchFamily="34" charset="0"/>
              </a:rPr>
              <a:t>: </a:t>
            </a:r>
            <a:r>
              <a:rPr lang="en-IN" sz="2400" dirty="0" err="1">
                <a:latin typeface="Aptos Display" panose="020B0004020202020204" pitchFamily="34" charset="0"/>
              </a:rPr>
              <a:t>Analyze</a:t>
            </a:r>
            <a:r>
              <a:rPr lang="en-IN" sz="2400" dirty="0">
                <a:latin typeface="Aptos Display" panose="020B0004020202020204" pitchFamily="34" charset="0"/>
              </a:rPr>
              <a:t> user's travel history and preferences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143" y="624110"/>
            <a:ext cx="9754470" cy="1280890"/>
          </a:xfrm>
        </p:spPr>
        <p:txBody>
          <a:bodyPr>
            <a:normAutofit fontScale="90000"/>
          </a:bodyPr>
          <a:lstStyle/>
          <a:p>
            <a:r>
              <a:rPr lang="en-IN" sz="6000" spc="5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S</a:t>
            </a:r>
            <a:r>
              <a:rPr lang="en-IN" sz="6000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YS</a:t>
            </a:r>
            <a:r>
              <a:rPr lang="en-IN" sz="6000" spc="5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T</a:t>
            </a:r>
            <a:r>
              <a:rPr lang="en-IN" sz="6000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EM</a:t>
            </a:r>
            <a:r>
              <a:rPr lang="en-IN" sz="6000" spc="-5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 </a:t>
            </a:r>
            <a:r>
              <a:rPr lang="en-IN" sz="6000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REQUI</a:t>
            </a:r>
            <a:r>
              <a:rPr lang="en-IN" sz="6000" spc="-5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R</a:t>
            </a:r>
            <a:r>
              <a:rPr lang="en-IN" sz="6000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E</a:t>
            </a:r>
            <a:r>
              <a:rPr lang="en-IN" sz="6000" spc="-15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M</a:t>
            </a:r>
            <a:r>
              <a:rPr lang="en-IN" sz="6000" dirty="0">
                <a:solidFill>
                  <a:srgbClr val="002060"/>
                </a:solidFill>
                <a:effectLst/>
                <a:latin typeface="Bell MT" panose="02020503060305020303" pitchFamily="18" charset="0"/>
              </a:rPr>
              <a:t>ENTS</a:t>
            </a:r>
            <a:br>
              <a:rPr lang="en-IN" sz="1800" dirty="0">
                <a:effectLst/>
                <a:latin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0141" y="1465006"/>
            <a:ext cx="9754471" cy="5181600"/>
          </a:xfrm>
        </p:spPr>
        <p:txBody>
          <a:bodyPr>
            <a:normAutofit fontScale="25000" lnSpcReduction="20000"/>
          </a:bodyPr>
          <a:lstStyle/>
          <a:p>
            <a:pPr marL="304800">
              <a:buNone/>
            </a:pPr>
            <a:r>
              <a:rPr lang="en-IN" sz="4200" dirty="0">
                <a:effectLst/>
                <a:latin typeface="Segoe UI Symbol" panose="020B0502040204020203" pitchFamily="34" charset="0"/>
              </a:rPr>
              <a:t> </a:t>
            </a:r>
            <a:r>
              <a:rPr lang="en-IN" sz="4200" spc="40" dirty="0">
                <a:effectLst/>
                <a:latin typeface="Segoe UI Symbol" panose="020B0502040204020203" pitchFamily="34" charset="0"/>
              </a:rPr>
              <a:t> </a:t>
            </a:r>
            <a:r>
              <a:rPr lang="en-IN" sz="7200" u="sng" dirty="0">
                <a:effectLst/>
                <a:latin typeface="Times New Roman" panose="02020603050405020304" pitchFamily="18" charset="0"/>
              </a:rPr>
              <a:t>H</a:t>
            </a:r>
            <a:r>
              <a:rPr lang="en-IN" sz="7200" u="sng" spc="5" dirty="0">
                <a:latin typeface="Times New Roman" panose="02020603050405020304" pitchFamily="18" charset="0"/>
              </a:rPr>
              <a:t>ardware</a:t>
            </a:r>
            <a:r>
              <a:rPr lang="en-IN" sz="72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u="sng" spc="5" dirty="0">
                <a:effectLst/>
                <a:latin typeface="Times New Roman" panose="02020603050405020304" pitchFamily="18" charset="0"/>
              </a:rPr>
              <a:t>S</a:t>
            </a:r>
            <a:r>
              <a:rPr lang="en-IN" sz="7200" u="sng" dirty="0">
                <a:effectLst/>
                <a:latin typeface="Times New Roman" panose="02020603050405020304" pitchFamily="18" charset="0"/>
              </a:rPr>
              <a:t>yst</a:t>
            </a:r>
            <a:r>
              <a:rPr lang="en-IN" sz="7200" u="sng" spc="-5" dirty="0">
                <a:effectLst/>
                <a:latin typeface="Times New Roman" panose="02020603050405020304" pitchFamily="18" charset="0"/>
              </a:rPr>
              <a:t>e</a:t>
            </a:r>
            <a:r>
              <a:rPr lang="en-IN" sz="7200" u="sng" dirty="0">
                <a:effectLst/>
                <a:latin typeface="Times New Roman" panose="02020603050405020304" pitchFamily="18" charset="0"/>
              </a:rPr>
              <a:t>m</a:t>
            </a:r>
            <a:r>
              <a:rPr lang="en-IN" sz="7200" u="sng" spc="-15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u="sng" dirty="0">
                <a:effectLst/>
                <a:latin typeface="Times New Roman" panose="02020603050405020304" pitchFamily="18" charset="0"/>
              </a:rPr>
              <a:t>Con</a:t>
            </a:r>
            <a:r>
              <a:rPr lang="en-IN" sz="7200" u="sng" spc="10" dirty="0">
                <a:effectLst/>
                <a:latin typeface="Times New Roman" panose="02020603050405020304" pitchFamily="18" charset="0"/>
              </a:rPr>
              <a:t>f</a:t>
            </a:r>
            <a:r>
              <a:rPr lang="en-IN" sz="7200" u="sng" dirty="0">
                <a:effectLst/>
                <a:latin typeface="Times New Roman" panose="02020603050405020304" pitchFamily="18" charset="0"/>
              </a:rPr>
              <a:t>ig</a:t>
            </a:r>
            <a:r>
              <a:rPr lang="en-IN" sz="7200" u="sng" spc="5" dirty="0">
                <a:effectLst/>
                <a:latin typeface="Times New Roman" panose="02020603050405020304" pitchFamily="18" charset="0"/>
              </a:rPr>
              <a:t>u</a:t>
            </a:r>
            <a:r>
              <a:rPr lang="en-IN" sz="7200" u="sng" spc="-5" dirty="0">
                <a:effectLst/>
                <a:latin typeface="Times New Roman" panose="02020603050405020304" pitchFamily="18" charset="0"/>
              </a:rPr>
              <a:t>r</a:t>
            </a:r>
            <a:r>
              <a:rPr lang="en-IN" sz="7200" u="sng" dirty="0">
                <a:effectLst/>
                <a:latin typeface="Times New Roman" panose="02020603050405020304" pitchFamily="18" charset="0"/>
              </a:rPr>
              <a:t>ation</a:t>
            </a:r>
            <a:r>
              <a:rPr lang="en-IN" sz="7200" b="1" dirty="0">
                <a:effectLst/>
                <a:latin typeface="Times New Roman" panose="02020603050405020304" pitchFamily="18" charset="0"/>
              </a:rPr>
              <a:t>:-</a:t>
            </a:r>
            <a:endParaRPr lang="en-IN" sz="7200" dirty="0">
              <a:effectLst/>
              <a:latin typeface="Times New Roman" panose="02020603050405020304" pitchFamily="18" charset="0"/>
            </a:endParaRPr>
          </a:p>
          <a:p>
            <a:pPr>
              <a:lnSpc>
                <a:spcPts val="600"/>
              </a:lnSpc>
              <a:spcBef>
                <a:spcPts val="20"/>
              </a:spcBef>
              <a:buNone/>
            </a:pPr>
            <a:r>
              <a:rPr lang="en-IN" sz="7200" dirty="0">
                <a:effectLst/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ts val="1000"/>
              </a:lnSpc>
              <a:buNone/>
            </a:pPr>
            <a:r>
              <a:rPr lang="en-IN" sz="7200" dirty="0">
                <a:effectLst/>
                <a:latin typeface="Segoe UI Symbol" panose="020B0502040204020203" pitchFamily="34" charset="0"/>
              </a:rPr>
              <a:t>➢   </a:t>
            </a:r>
            <a:r>
              <a:rPr lang="en-IN" sz="7200" spc="70" dirty="0">
                <a:effectLst/>
                <a:latin typeface="Segoe UI Symbol" panose="020B0502040204020203" pitchFamily="34" charset="0"/>
              </a:rPr>
              <a:t> 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P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ro</a:t>
            </a:r>
            <a:r>
              <a:rPr lang="en-IN" sz="7200" spc="-10" dirty="0">
                <a:effectLst/>
                <a:latin typeface="Times New Roman" panose="02020603050405020304" pitchFamily="18" charset="0"/>
              </a:rPr>
              <a:t>c</a:t>
            </a:r>
            <a:r>
              <a:rPr lang="en-IN" sz="7200" spc="-5" dirty="0">
                <a:effectLst/>
                <a:latin typeface="Times New Roman" panose="02020603050405020304" pitchFamily="18" charset="0"/>
              </a:rPr>
              <a:t>e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ssor                     </a:t>
            </a:r>
            <a:r>
              <a:rPr lang="en-IN" sz="7200" spc="145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-  </a:t>
            </a:r>
            <a:r>
              <a:rPr lang="en-IN" sz="7200" spc="295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P</a:t>
            </a:r>
            <a:r>
              <a:rPr lang="en-IN" sz="7200" spc="-5" dirty="0">
                <a:effectLst/>
                <a:latin typeface="Times New Roman" panose="02020603050405020304" pitchFamily="18" charset="0"/>
              </a:rPr>
              <a:t>e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nt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i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um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spc="10" dirty="0">
                <a:effectLst/>
                <a:latin typeface="Times New Roman" panose="02020603050405020304" pitchFamily="18" charset="0"/>
              </a:rPr>
              <a:t>–</a:t>
            </a:r>
            <a:r>
              <a:rPr lang="en-IN" sz="7200" spc="-30" dirty="0">
                <a:effectLst/>
                <a:latin typeface="Times New Roman" panose="02020603050405020304" pitchFamily="18" charset="0"/>
              </a:rPr>
              <a:t>IV</a:t>
            </a:r>
            <a:endParaRPr lang="en-IN" sz="7200" dirty="0">
              <a:effectLst/>
              <a:latin typeface="Times New Roman" panose="02020603050405020304" pitchFamily="18" charset="0"/>
            </a:endParaRPr>
          </a:p>
          <a:p>
            <a:pPr>
              <a:lnSpc>
                <a:spcPts val="700"/>
              </a:lnSpc>
              <a:spcBef>
                <a:spcPts val="30"/>
              </a:spcBef>
              <a:buNone/>
            </a:pPr>
            <a:r>
              <a:rPr lang="en-IN" sz="7200" dirty="0">
                <a:effectLst/>
                <a:latin typeface="Times New Roman" panose="02020603050405020304" pitchFamily="18" charset="0"/>
              </a:rPr>
              <a:t> </a:t>
            </a:r>
          </a:p>
          <a:p>
            <a:pPr marL="303530">
              <a:buNone/>
            </a:pPr>
            <a:r>
              <a:rPr lang="en-IN" sz="7200" dirty="0">
                <a:effectLst/>
                <a:latin typeface="Segoe UI Symbol" panose="020B0502040204020203" pitchFamily="34" charset="0"/>
              </a:rPr>
              <a:t>➢  </a:t>
            </a:r>
            <a:r>
              <a:rPr lang="en-IN" sz="7200" spc="40" dirty="0">
                <a:effectLst/>
                <a:latin typeface="Segoe UI Symbol" panose="020B0502040204020203" pitchFamily="34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RAM                             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- </a:t>
            </a:r>
            <a:r>
              <a:rPr lang="en-IN" sz="7200" spc="295" dirty="0">
                <a:effectLst/>
                <a:latin typeface="Times New Roman" panose="02020603050405020304" pitchFamily="18" charset="0"/>
              </a:rPr>
              <a:t>4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 GB</a:t>
            </a:r>
            <a:r>
              <a:rPr lang="en-IN" sz="7200" spc="-10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(min)</a:t>
            </a:r>
          </a:p>
          <a:p>
            <a:pPr marL="303530">
              <a:spcBef>
                <a:spcPts val="465"/>
              </a:spcBef>
              <a:buNone/>
            </a:pPr>
            <a:r>
              <a:rPr lang="en-IN" sz="7200" dirty="0">
                <a:effectLst/>
                <a:latin typeface="Segoe UI Symbol" panose="020B0502040204020203" pitchFamily="34" charset="0"/>
              </a:rPr>
              <a:t>➢  </a:t>
            </a:r>
            <a:r>
              <a:rPr lang="en-IN" sz="7200" spc="40" dirty="0">
                <a:effectLst/>
                <a:latin typeface="Segoe UI Symbol" panose="020B0502040204020203" pitchFamily="34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H</a:t>
            </a:r>
            <a:r>
              <a:rPr lang="en-IN" sz="7200" spc="-5" dirty="0">
                <a:effectLst/>
                <a:latin typeface="Times New Roman" panose="02020603050405020304" pitchFamily="18" charset="0"/>
              </a:rPr>
              <a:t>a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rd </a:t>
            </a:r>
            <a:r>
              <a:rPr lang="en-IN" sz="7200" spc="-5" dirty="0">
                <a:effectLst/>
                <a:latin typeface="Times New Roman" panose="02020603050405020304" pitchFamily="18" charset="0"/>
              </a:rPr>
              <a:t>D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isk                     </a:t>
            </a:r>
            <a:r>
              <a:rPr lang="en-IN" sz="7200" spc="10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-  </a:t>
            </a:r>
            <a:r>
              <a:rPr lang="en-IN" sz="7200" spc="10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20 GB</a:t>
            </a:r>
          </a:p>
          <a:p>
            <a:pPr marL="304165">
              <a:spcBef>
                <a:spcPts val="480"/>
              </a:spcBef>
              <a:buNone/>
            </a:pPr>
            <a:r>
              <a:rPr lang="en-IN" sz="7200" dirty="0">
                <a:effectLst/>
                <a:latin typeface="Segoe UI Symbol" panose="020B0502040204020203" pitchFamily="34" charset="0"/>
              </a:rPr>
              <a:t>➢  </a:t>
            </a:r>
            <a:r>
              <a:rPr lang="en-IN" sz="7200" spc="40" dirty="0">
                <a:effectLst/>
                <a:latin typeface="Segoe UI Symbol" panose="020B0502040204020203" pitchFamily="34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K</a:t>
            </a:r>
            <a:r>
              <a:rPr lang="en-IN" sz="7200" spc="15" dirty="0">
                <a:effectLst/>
                <a:latin typeface="Times New Roman" panose="02020603050405020304" pitchFamily="18" charset="0"/>
              </a:rPr>
              <a:t>e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y</a:t>
            </a:r>
            <a:r>
              <a:rPr lang="en-IN" sz="7200" spc="-25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spc="-10" dirty="0">
                <a:effectLst/>
                <a:latin typeface="Times New Roman" panose="02020603050405020304" pitchFamily="18" charset="0"/>
              </a:rPr>
              <a:t>B</a:t>
            </a:r>
            <a:r>
              <a:rPr lang="en-IN" sz="7200" spc="10" dirty="0">
                <a:effectLst/>
                <a:latin typeface="Times New Roman" panose="02020603050405020304" pitchFamily="18" charset="0"/>
              </a:rPr>
              <a:t>o</a:t>
            </a:r>
            <a:r>
              <a:rPr lang="en-IN" sz="7200" spc="-5" dirty="0">
                <a:effectLst/>
                <a:latin typeface="Times New Roman" panose="02020603050405020304" pitchFamily="18" charset="0"/>
              </a:rPr>
              <a:t>a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rd                     -   </a:t>
            </a:r>
            <a:r>
              <a:rPr lang="en-IN" sz="7200" spc="10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S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tand</a:t>
            </a:r>
            <a:r>
              <a:rPr lang="en-IN" sz="7200" spc="-5" dirty="0">
                <a:effectLst/>
                <a:latin typeface="Times New Roman" panose="02020603050405020304" pitchFamily="18" charset="0"/>
              </a:rPr>
              <a:t>a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rd Windows K</a:t>
            </a:r>
            <a:r>
              <a:rPr lang="en-IN" sz="7200" spc="-5" dirty="0">
                <a:effectLst/>
                <a:latin typeface="Times New Roman" panose="02020603050405020304" pitchFamily="18" charset="0"/>
              </a:rPr>
              <a:t>e</a:t>
            </a:r>
            <a:r>
              <a:rPr lang="en-IN" sz="7200" spc="-25" dirty="0">
                <a:effectLst/>
                <a:latin typeface="Times New Roman" panose="02020603050405020304" pitchFamily="18" charset="0"/>
              </a:rPr>
              <a:t>y</a:t>
            </a:r>
            <a:r>
              <a:rPr lang="en-IN" sz="7200" spc="10" dirty="0">
                <a:effectLst/>
                <a:latin typeface="Times New Roman" panose="02020603050405020304" pitchFamily="18" charset="0"/>
              </a:rPr>
              <a:t>b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o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a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rd</a:t>
            </a:r>
          </a:p>
          <a:p>
            <a:pPr marL="304165">
              <a:spcBef>
                <a:spcPts val="465"/>
              </a:spcBef>
              <a:buNone/>
            </a:pPr>
            <a:r>
              <a:rPr lang="en-IN" sz="7200" dirty="0">
                <a:effectLst/>
                <a:latin typeface="Segoe UI Symbol" panose="020B0502040204020203" pitchFamily="34" charset="0"/>
              </a:rPr>
              <a:t>➢  </a:t>
            </a:r>
            <a:r>
              <a:rPr lang="en-IN" sz="7200" spc="40" dirty="0">
                <a:effectLst/>
                <a:latin typeface="Segoe UI Symbol" panose="020B0502040204020203" pitchFamily="34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Mouse                           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-   </a:t>
            </a:r>
            <a:r>
              <a:rPr lang="en-IN" sz="7200" spc="10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T</a:t>
            </a:r>
            <a:r>
              <a:rPr lang="en-IN" sz="7200" spc="-5" dirty="0">
                <a:effectLst/>
                <a:latin typeface="Times New Roman" panose="02020603050405020304" pitchFamily="18" charset="0"/>
              </a:rPr>
              <a:t>w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o or </a:t>
            </a:r>
            <a:r>
              <a:rPr lang="en-IN" sz="7200" spc="-5" dirty="0">
                <a:effectLst/>
                <a:latin typeface="Times New Roman" panose="02020603050405020304" pitchFamily="18" charset="0"/>
              </a:rPr>
              <a:t>T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hree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spc="-10" dirty="0">
                <a:effectLst/>
                <a:latin typeface="Times New Roman" panose="02020603050405020304" pitchFamily="18" charset="0"/>
              </a:rPr>
              <a:t>B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ut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t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on Mouse</a:t>
            </a:r>
          </a:p>
          <a:p>
            <a:pPr marL="304800">
              <a:spcBef>
                <a:spcPts val="480"/>
              </a:spcBef>
              <a:buNone/>
            </a:pPr>
            <a:r>
              <a:rPr lang="en-IN" sz="7200" dirty="0">
                <a:effectLst/>
                <a:latin typeface="Segoe UI Symbol" panose="020B0502040204020203" pitchFamily="34" charset="0"/>
              </a:rPr>
              <a:t>➢  </a:t>
            </a:r>
            <a:r>
              <a:rPr lang="en-IN" sz="7200" spc="40" dirty="0">
                <a:effectLst/>
                <a:latin typeface="Segoe UI Symbol" panose="020B0502040204020203" pitchFamily="34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Monitor                         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-  </a:t>
            </a:r>
            <a:r>
              <a:rPr lang="en-IN" sz="7200" spc="295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spc="5" dirty="0">
                <a:effectLst/>
                <a:latin typeface="Times New Roman" panose="02020603050405020304" pitchFamily="18" charset="0"/>
              </a:rPr>
              <a:t>S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V</a:t>
            </a:r>
            <a:r>
              <a:rPr lang="en-IN" sz="7200" spc="-5" dirty="0">
                <a:effectLst/>
                <a:latin typeface="Times New Roman" panose="02020603050405020304" pitchFamily="18" charset="0"/>
              </a:rPr>
              <a:t>G</a:t>
            </a:r>
            <a:r>
              <a:rPr lang="en-IN" sz="7200" dirty="0">
                <a:effectLst/>
                <a:latin typeface="Times New Roman" panose="02020603050405020304" pitchFamily="18" charset="0"/>
              </a:rPr>
              <a:t>A</a:t>
            </a:r>
          </a:p>
          <a:p>
            <a:pPr>
              <a:buNone/>
            </a:pPr>
            <a:r>
              <a:rPr lang="en-IN" sz="7200" u="sng" dirty="0">
                <a:effectLst/>
                <a:latin typeface="Times New Roman" panose="02020603050405020304" pitchFamily="18" charset="0"/>
              </a:rPr>
              <a:t> </a:t>
            </a:r>
            <a:r>
              <a:rPr lang="en-IN" sz="7200" u="sng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Software Requirements</a:t>
            </a:r>
            <a:r>
              <a:rPr lang="en-IN" sz="50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  <a:endParaRPr lang="en-IN" sz="50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7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Operating System 		-	Windows XP</a:t>
            </a:r>
            <a:endParaRPr lang="en-IN" sz="7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7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Coding Language		- 	Java/J2EE(</a:t>
            </a:r>
            <a:r>
              <a:rPr lang="en-IN" sz="72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JSP,Servlet</a:t>
            </a:r>
            <a:r>
              <a:rPr lang="en-IN" sz="7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IN" sz="7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7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Front End			        -	</a:t>
            </a:r>
            <a:r>
              <a:rPr lang="en-IN" sz="7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HTML&amp;CSS</a:t>
            </a:r>
            <a:endParaRPr lang="en-IN" sz="7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"/>
            </a:pPr>
            <a:r>
              <a:rPr lang="en-IN" sz="72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Back End			        -       MySQL</a:t>
            </a:r>
            <a:br>
              <a:rPr lang="en-IN" sz="45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</a:br>
            <a:endParaRPr lang="en-IN" sz="4500" dirty="0">
              <a:effectLst/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2324" y="388136"/>
            <a:ext cx="9754470" cy="136200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002060"/>
                </a:solidFill>
                <a:latin typeface="Bell MT" panose="02020503060305020303" pitchFamily="18" charset="0"/>
              </a:rPr>
              <a:t> </a:t>
            </a:r>
            <a:r>
              <a:rPr lang="en-IN" sz="5400" dirty="0">
                <a:solidFill>
                  <a:srgbClr val="002060"/>
                </a:solidFill>
                <a:latin typeface="Bell MT" panose="02020503060305020303" pitchFamily="18" charset="0"/>
              </a:rPr>
              <a:t>ARCHITECTURE DIAGRAM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8067" y="2143431"/>
            <a:ext cx="8464021" cy="4469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2308" y="521110"/>
            <a:ext cx="9744638" cy="904567"/>
          </a:xfrm>
        </p:spPr>
        <p:txBody>
          <a:bodyPr>
            <a:noAutofit/>
          </a:bodyPr>
          <a:lstStyle/>
          <a:p>
            <a:r>
              <a:rPr lang="en-IN" sz="5400" dirty="0">
                <a:solidFill>
                  <a:srgbClr val="002060"/>
                </a:solidFill>
                <a:latin typeface="Bell MT" panose="02020503060305020303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723" y="1602658"/>
            <a:ext cx="10202384" cy="503411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 </a:t>
            </a: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Personalized Recommendations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 Tailored suggestions: By analyzing a user's photos, the model can understand      their interests and preferences, providing personalized travel recommendations.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Improved User Experience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Visual inspiration: Photos can inspire users to explore new destinations and activities, making the travel planning process more engaging and enjoyable.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Potential Applications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 Travel planning platforms: Integrating this model into travel planning platforms can enhance the user experience and provide more personalized recommendations.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652" y="624109"/>
            <a:ext cx="9842961" cy="1096535"/>
          </a:xfrm>
        </p:spPr>
        <p:txBody>
          <a:bodyPr>
            <a:noAutofit/>
          </a:bodyPr>
          <a:lstStyle/>
          <a:p>
            <a:r>
              <a:rPr lang="en-IN" sz="5400" dirty="0">
                <a:solidFill>
                  <a:srgbClr val="002060"/>
                </a:solidFill>
                <a:latin typeface="Bell MT" panose="02020503060305020303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716" y="1632154"/>
            <a:ext cx="11031793" cy="510294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 </a:t>
            </a: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Personalized Travel Planning: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 Suggests destinations and activities that match the user’s visual preferences, such as nature spots, urban areas, or cultural sites.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 Social Media-Based Itinerary Generation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Automatically creates travel plans by analyzing frequently featured themes or locations in the user’s and their friends’ photos.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 </a:t>
            </a: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Targeted Marketing for Travel Agencies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Helps travel companies deliver customized ads and offers based on the user’s travel style inferred from their photos.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 </a:t>
            </a: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Group Travel Recommendations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Analyzes group photos to identify shared interests and suggest destinations suitable for friends, families, or couples.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 Smart Travel Apps Integration</a:t>
            </a:r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: Enhances travel apps with AI-powered suggestions based on visual data, offering smarter destination choices and experiences</a:t>
            </a:r>
            <a:endParaRPr lang="en-IN" sz="24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827" y="624110"/>
            <a:ext cx="9911786" cy="1280890"/>
          </a:xfrm>
        </p:spPr>
        <p:txBody>
          <a:bodyPr>
            <a:normAutofit/>
          </a:bodyPr>
          <a:lstStyle/>
          <a:p>
            <a:r>
              <a:rPr lang="en-IN" sz="5400" dirty="0">
                <a:solidFill>
                  <a:srgbClr val="002060"/>
                </a:solidFill>
                <a:latin typeface="Bell MT" panose="02020503060305020303" pitchFamily="18" charset="0"/>
              </a:rPr>
              <a:t>RESULT ANALYSIS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828" y="1603375"/>
            <a:ext cx="9271582" cy="5083175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24851" cy="68580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0311" y="624110"/>
            <a:ext cx="9764302" cy="1280890"/>
          </a:xfrm>
        </p:spPr>
        <p:txBody>
          <a:bodyPr>
            <a:normAutofit/>
          </a:bodyPr>
          <a:lstStyle/>
          <a:p>
            <a:r>
              <a:rPr lang="en-IN" sz="5400" dirty="0">
                <a:solidFill>
                  <a:srgbClr val="002060"/>
                </a:solidFill>
                <a:latin typeface="Bell MT" panose="02020503060305020303" pitchFamily="18" charset="0"/>
              </a:rPr>
              <a:t>FUTURE SCOPE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7387" y="1558745"/>
            <a:ext cx="1143578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Enhanced Personalization with AI</a:t>
            </a:r>
            <a:r>
              <a:rPr lang="en-US" altLang="en-US" sz="2000" u="sng" dirty="0">
                <a:solidFill>
                  <a:schemeClr val="tx1"/>
                </a:solidFill>
                <a:latin typeface="Aptos Display" panose="020B0004020202020204" pitchFamily="34" charset="0"/>
              </a:rPr>
              <a:t>:-</a:t>
            </a:r>
            <a:b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Integrate more advanced AI to analyze deeper visual and contextual cues from photos (like mood, setting, and activity) to refine travel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Cross-Platform Data Integration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:-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Expand the model to gather and analyze data from multiple social media platforms (e.g., Instagram, Facebook, TikTok) for a more comprehensive user profile.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000" u="sng" dirty="0">
                <a:latin typeface="Aptos Display" panose="020B0004020202020204" pitchFamily="34" charset="0"/>
              </a:rPr>
              <a:t>Real-Time Trend Adaptation</a:t>
            </a:r>
            <a:r>
              <a:rPr lang="en-IN" sz="2000" dirty="0">
                <a:latin typeface="Aptos Display" panose="020B0004020202020204" pitchFamily="34" charset="0"/>
              </a:rPr>
              <a:t>:-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Use real-time travel and social media trends to suggest trendy or emerging travel spots aligned with the user’s interests and photo style.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Augmented Reality Previews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:-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Integrate AR features to let users visualize destinations and experiences that match their photo vibe before booking or visiting.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Community and Social Recommendations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:-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Allow users to see where their friends or similar users have traveled based on photo similarity and shared interests, enhancing social travel planning.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6741" y="462116"/>
            <a:ext cx="9734806" cy="727494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002060"/>
                </a:solidFill>
                <a:latin typeface="Bell MT" panose="02020503060305020303" pitchFamily="18" charset="0"/>
                <a:ea typeface="Optima" pitchFamily="34" charset="-122"/>
                <a:cs typeface="Optima" pitchFamily="34" charset="-120"/>
              </a:rPr>
              <a:t>CONCLUSION</a:t>
            </a:r>
            <a:br>
              <a:rPr lang="en-US" sz="6600" dirty="0">
                <a:latin typeface="Bell MT" panose="02020503060305020303" pitchFamily="18" charset="0"/>
              </a:rPr>
            </a:br>
            <a:endParaRPr lang="en-IN" sz="6600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453" y="1858296"/>
            <a:ext cx="11033706" cy="469982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latin typeface="Aptos Display" panose="020B0004020202020204" pitchFamily="34" charset="0"/>
              </a:rPr>
              <a:t>Automated system</a:t>
            </a:r>
            <a:r>
              <a:rPr lang="en-US" sz="2400" dirty="0">
                <a:latin typeface="Aptos Display" panose="020B0004020202020204" pitchFamily="34" charset="0"/>
              </a:rPr>
              <a:t>: The model automatically collects and analyzes Instagram photos to detect objects and build a dataset for recommending travel destinations.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latin typeface="Aptos Display" panose="020B0004020202020204" pitchFamily="34" charset="0"/>
              </a:rPr>
              <a:t>Effective results</a:t>
            </a:r>
            <a:r>
              <a:rPr lang="en-US" sz="2400" dirty="0">
                <a:latin typeface="Aptos Display" panose="020B0004020202020204" pitchFamily="34" charset="0"/>
              </a:rPr>
              <a:t>: The model can recommend 10 countries with a 63% match to places users have visited, and 96% accuracy when including other traveled countries not shown in the input photos.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latin typeface="Aptos Display" panose="020B0004020202020204" pitchFamily="34" charset="0"/>
              </a:rPr>
              <a:t>Photo-based comparison</a:t>
            </a:r>
            <a:r>
              <a:rPr lang="en-US" sz="2400" dirty="0">
                <a:latin typeface="Aptos Display" panose="020B0004020202020204" pitchFamily="34" charset="0"/>
              </a:rPr>
              <a:t>: Travel suggestions are made by comparing object vectors from user photos with a dataset, avoiding repeated analysis but making the model sensitive to changes in the object detection algorithm.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u="sng" dirty="0">
                <a:latin typeface="Aptos Display" panose="020B0004020202020204" pitchFamily="34" charset="0"/>
              </a:rPr>
              <a:t>Future improvements</a:t>
            </a:r>
            <a:r>
              <a:rPr lang="en-US" sz="2400" dirty="0">
                <a:latin typeface="Aptos Display" panose="020B0004020202020204" pitchFamily="34" charset="0"/>
              </a:rPr>
              <a:t>: The model currently recommends countries, but it can be expanded to suggest more specific regions or areas using the existing dataset for more precise travel planning.</a:t>
            </a:r>
            <a:endParaRPr lang="en-IN" sz="24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0645" y="624110"/>
            <a:ext cx="9783967" cy="1280890"/>
          </a:xfrm>
        </p:spPr>
        <p:txBody>
          <a:bodyPr>
            <a:normAutofit/>
          </a:bodyPr>
          <a:lstStyle/>
          <a:p>
            <a:r>
              <a:rPr lang="en-IN" sz="5400" dirty="0">
                <a:solidFill>
                  <a:srgbClr val="002060"/>
                </a:solidFill>
                <a:latin typeface="Bell MT" panose="02020503060305020303" pitchFamily="18" charset="0"/>
              </a:rPr>
              <a:t>REFERENCES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99535" y="1393056"/>
            <a:ext cx="1064833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Personalized Travel Suggestions:-</a:t>
            </a:r>
            <a:b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Many systems 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user preferences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travel personalities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,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past behaviors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to suggest personalized destinations or routes. (e.g., [1], [6], [18])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Recommendation Techniques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:-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Different methods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collaborative filtering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content-based filtering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hybrid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are commonly used. Some also 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machine learning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like decision trees or K-means clustering. (e.g., [2], [4], [23], [25])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Use of Social and Contextual Data</a:t>
            </a:r>
            <a:r>
              <a:rPr lang="en-US" alt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:-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Some systems analyze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geo-tagged images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social media posts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,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community-contributed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to improve travel recommendations. (e.g., [8], [11], [16])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Integration of Smart Technology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:-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IoT devices and smartphones are used to gather real-time user data, enhancing the travel experience and suggestions. (e.g., [9])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Improving Accuracy and User Experience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:-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Researchers focus on improving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of suggestions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better similarity measures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knowledge graphs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dialogue strategies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. (e.g., [10], [12], [22], [24])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91" y="258098"/>
            <a:ext cx="9124334" cy="6105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22</TotalTime>
  <Words>1463</Words>
  <Application>Microsoft Office PowerPoint</Application>
  <PresentationFormat>Widescreen</PresentationFormat>
  <Paragraphs>97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Aptos Display</vt:lpstr>
      <vt:lpstr>Arial</vt:lpstr>
      <vt:lpstr>Bell MT</vt:lpstr>
      <vt:lpstr>Bookman Old Style</vt:lpstr>
      <vt:lpstr>Calibri</vt:lpstr>
      <vt:lpstr>Century Gothic</vt:lpstr>
      <vt:lpstr>Segoe UI Symbol</vt:lpstr>
      <vt:lpstr>Times New Roman</vt:lpstr>
      <vt:lpstr>Wingdings</vt:lpstr>
      <vt:lpstr>Wingdings 3</vt:lpstr>
      <vt:lpstr>Wisp</vt:lpstr>
      <vt:lpstr>   MALLA REDDY COLLEGE OF ENGINEERING FOR WOMEN                              An UGC Autonomous Institution              Approved by AICTE New Delhi and Affiliated to JNTU                    An ISO 9001: 2015 Certified Institution                     Accredited by NBA and IIC 4-star Rating                India Rankings 2023-NIRF Innovation  Band 151-300         Maisammaguda , Medchal(Dist) , Hyderabad -500100, Telangana.    Tel:  9346118802     Email : rg.mrcew@gmail.com,    www.mrcew.ac.in</vt:lpstr>
      <vt:lpstr>CONTENT</vt:lpstr>
      <vt:lpstr>ABSTARCT</vt:lpstr>
      <vt:lpstr>INTRODUCTION</vt:lpstr>
      <vt:lpstr>EXISTING SYSTEM</vt:lpstr>
      <vt:lpstr>PROPOSED METHOD</vt:lpstr>
      <vt:lpstr>SYSTEM REQUIREMENTS </vt:lpstr>
      <vt:lpstr> ARCHITECTURE DIAGRAM</vt:lpstr>
      <vt:lpstr>ADVANTAGES</vt:lpstr>
      <vt:lpstr>APPLICATIONS</vt:lpstr>
      <vt:lpstr>RESULT ANALYSIS</vt:lpstr>
      <vt:lpstr>PowerPoint Presentation</vt:lpstr>
      <vt:lpstr>PowerPoint Presentation</vt:lpstr>
      <vt:lpstr>PowerPoint Presentation</vt:lpstr>
      <vt:lpstr>PowerPoint Presentation</vt:lpstr>
      <vt:lpstr>FUTURE SCOPE</vt:lpstr>
      <vt:lpstr>CONCLUSION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MALLA REDDY COLLEGE OF ENGINEERING FOR WOMEN                              An UGC Autonomous Institution              Approved by AICTE New Delhi and Affiliated to JNTU                    An ISO 9001: 2015 Certified Institution                     Accredited by NBA and IIC 4-star Rating                India Rankings 2023-NIRF Innovation  Band 151-300         Maisammaguda, Medchal (Dist), Hyderabad -500100, Telangana.    Tel:  9346118802     Email : rg.mrcew@gmail.com,    www.mrcew.ac.in</dc:title>
  <dc:creator>anjali gunti</dc:creator>
  <cp:lastModifiedBy>anjali gunti</cp:lastModifiedBy>
  <cp:revision>13</cp:revision>
  <dcterms:created xsi:type="dcterms:W3CDTF">2024-07-12T16:37:00Z</dcterms:created>
  <dcterms:modified xsi:type="dcterms:W3CDTF">2025-04-16T07:04:13Z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F7580902D8DB42249EAF3A11ABFAC763_12</vt:lpwstr>
  </property>
  <property fmtid="{D5CDD505-2E9C-101B-9397-08002B2CF9AE}" pid="3" name="KSOProductBuildVer">
    <vt:lpwstr>1033-12.2.0.20795</vt:lpwstr>
  </property>
</Properties>
</file>